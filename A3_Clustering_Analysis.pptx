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3946"/>
                </a:solidFill>
              </a:rPr>
              <a:t>A3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Clustering Algorithm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A261"/>
                </a:solidFill>
              </a:rPr>
              <a:t>K-Means Brute Force  ·  K-Means++  ·  GMM / EM  ·  GA-VQ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0C0"/>
                </a:solidFill>
              </a:rPr>
              <a:t>TD²  ·  Log-Likelihood  ·  BIC / AIC  ·  Silhouette  ·  Instability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0C0C0"/>
                </a:solidFill>
              </a:rPr>
              <a:t>7 500 points  |  2-D  |  50 Gaussian clusters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A3 Benchmark – 7 500 points, 50 Gaussian clusters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5029200" cy="516636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raw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484632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7840" y="15544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Source: A3 benchmark (Fränti &amp; Virmajoki 2006)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7 500 two-dimensional data points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50 Gaussian clusters, varying density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Coordinate range: ≈ 3K – 65K (both axes)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Known optimal K = 50 clusters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Provided GA-VQ codebook: 50 centroids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Partition file: 7 500 cluster labels (1–50)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0F0F0"/>
                </a:solidFill>
              </a:rPr>
              <a:t>•  Challenge: 50-cluster recovery, no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5897880"/>
            <a:ext cx="6309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C0C0"/>
                </a:solidFill>
              </a:rPr>
              <a:t>This dataset is a standard Vector-Quantization (VQ) benchmark used to compare clustering heuristics under realistic multi-Gaussian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Hard vs Soft clustering | Brute-force vs Smart initialisation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2834640" cy="53035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2834640" cy="731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3898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K-Means
Brute-Force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Lloyd's iteration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529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Random centroid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5112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50 restarts → best TD²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1696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Hard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8280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Simple but unstable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834640" cy="53035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71600"/>
            <a:ext cx="2834640" cy="7315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13898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K-Means++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K-Means++ seeding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8529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Prob. init (D² sampling)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112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20 restarts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1696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Hard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8280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Much more stable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834640" cy="53035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83464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3898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GMM / EM
(Soft)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Gaussian Mixture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529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EM algorithm (E &amp; M steps)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112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Soft memberships P(k|xᵢ)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696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Full covariance 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280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Log-likelihood optimised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1371600"/>
            <a:ext cx="2834640" cy="53035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1371600"/>
            <a:ext cx="2834640" cy="73152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138988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GA-VQ
(Reference)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Genetic Algorithm + VQ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8529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Population of solutions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511296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Crossover &amp; mutation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16966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Avoids local minima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4828031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Provided as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9224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A261"/>
                </a:solidFill>
              </a:rPr>
              <a:t>TD²  (Total Distortion²)  =  Σ ||xᵢ − cₖ(ᵢ)||²   ←  lower is better for all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K-Means – Brute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Random initialisation  |  50 restarts  |  Hard assignment</a:t>
            </a:r>
          </a:p>
        </p:txBody>
      </p:sp>
      <p:pic>
        <p:nvPicPr>
          <p:cNvPr id="6" name="Picture 5" descr="fig2_clust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6858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Init: uniform random centroids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50 independent restarts → best inertia selected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Each run uses Lloyd's iteration (max 300 steps)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Hard assignment: each point → nearest centroid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WEAKNESS: highly sensitive to seed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May converge to poor local minima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High σ(TD²) across runs → UNSTABLE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TD²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see 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vs other algos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723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Restarts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random seeds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K-Means++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Probabilistic initialisation (D² sampling)  |  20 restarts</a:t>
            </a:r>
          </a:p>
        </p:txBody>
      </p:sp>
      <p:pic>
        <p:nvPicPr>
          <p:cNvPr id="6" name="Picture 5" descr="fig3_clust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6858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Init: D² weighted sampling (Arthur &amp; Vassilvitskii 2007)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1st centroid: random; each next ∝ distance² to nearest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Proven ≤ 8(ln K + 2) · OPT approximation ratio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20 restarts sufficient (much fewer needed vs BF)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Hard assignment – identical to K-Means after init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Typically achieves LOWER TD² than Brute-Force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Lower σ(TD²) → MORE STABLE than BF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TD²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≈ BF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slight 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723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lower σ(TD²)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Gaussian Mixture Model (GMM / 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Soft clustering  |  Full covariance  |  Probabilistic membership</a:t>
            </a:r>
          </a:p>
        </p:txBody>
      </p:sp>
      <p:pic>
        <p:nvPicPr>
          <p:cNvPr id="6" name="Picture 5" descr="fig6_gmm_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6858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Models each cluster as a multivariate Gaussian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EM alternates: E-step (responsibilities) ↔ M-step (params)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SOFT: P(cluster k | pointᵢ) for every point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Optimises Log-Likelihood, not TD²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Full covariance → captures elliptical clusters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Model selection: BIC / AIC vs K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Best Log-Likelihood among all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Log-Likelihood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Maximum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vs K-Means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5303520"/>
            <a:ext cx="2286000" cy="123444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7232" y="53492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Soft assign.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565099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6144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P(k|xᵢ) ∈ [0,1]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GA-VQ – Genetic Algorithm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Evolutionary optimisation  |  Provided codebook + partition</a:t>
            </a:r>
          </a:p>
        </p:txBody>
      </p:sp>
      <p:pic>
        <p:nvPicPr>
          <p:cNvPr id="6" name="Picture 5" descr="fig5_clust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34440"/>
            <a:ext cx="6858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Genetic Algorithm on codebook population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Each individual = set of 50 centroids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Operators: selection, crossover, mutation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Fitness = Total Distortion (TD²) – minimised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Escapes local minima that K-Means gets stuck 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Achieves best TD² among heuristics on A3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Provided as reference result for comparison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0F0F0"/>
                </a:solidFill>
              </a:rPr>
              <a:t>•  File: a3-ga-cb.txt (centroids), a3-ga.pa (labels)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5440680"/>
            <a:ext cx="475488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5440680"/>
            <a:ext cx="4754880" cy="109728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548640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TD²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5788152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Lowest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628192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benchmark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TD²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Total Distortion Squared  –  lower is better</a:t>
            </a:r>
          </a:p>
        </p:txBody>
      </p:sp>
      <p:pic>
        <p:nvPicPr>
          <p:cNvPr id="6" name="Picture 5" descr="fig7_td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13232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TD² = Σ ||xᵢ − c_{k(i)}||²  (WCSS / Inertia)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Primary VQ quality metric from the paper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GA-VQ: reference/best (evolutionary search)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GMM/EM: competitive – optimises different obj.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K-Means++: usually closest to GA-VQ among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  K-Means variants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K-Means BF: highest TD², most unstable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F0F0F0"/>
                </a:solidFill>
              </a:rPr>
              <a:t>•  Gold border = best result per metric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Clustering Quality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Silhouette  |  Davies-Bouldin  |  Calinski-Harabasz</a:t>
            </a:r>
          </a:p>
        </p:txBody>
      </p:sp>
      <p:pic>
        <p:nvPicPr>
          <p:cNvPr id="6" name="Picture 5" descr="fig8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88720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Algorithm Instability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σ(TD²) across 10 independent runs – single restart per run</a:t>
            </a:r>
          </a:p>
        </p:txBody>
      </p:sp>
      <p:pic>
        <p:nvPicPr>
          <p:cNvPr id="6" name="Picture 5" descr="fig9_in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13232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Instability = std-dev of TD² over 10 seeds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High σ → algorithm is sensitive to initialisation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K-Means BF: highest σ (most unstable)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   ◦  Random init → many local minima traps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K-Means++: much lower σ (stable init)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   ◦  D² sampling avoids degenerate starts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GMM/EM: moderate instability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   ◦  EM can also converge to local maxima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Verdict: K-Means BF is MOST UNSTABLE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Verdict: K-Means++ is MOST STABLE (K-Means family)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Elbow Curve –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K-Means++ TD² vs K  |  Confirms optimal K = 50</a:t>
            </a:r>
          </a:p>
        </p:txBody>
      </p:sp>
      <p:pic>
        <p:nvPicPr>
          <p:cNvPr id="6" name="Picture 5" descr="fig10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46304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Elbow method: plot TD² vs number of clusters 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Rate of decrease slows at the 'elbow' = optimal K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A3 dataset has exactly 50 true clusters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Elbow visible near K = 50 (red dashed line)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Beyond K=50: marginal TD² reduction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Below K=50: large TD² penalty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GMM BIC/AIC used for cross-validation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Both criteria confirm K ≈ 50 as optimal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GMM Model Selection – BIC &amp; AIC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Bayesian &amp; Akaike Information Criteria vs K</a:t>
            </a:r>
          </a:p>
        </p:txBody>
      </p:sp>
      <p:pic>
        <p:nvPicPr>
          <p:cNvPr id="6" name="Picture 5" descr="fig11_gmm_bic_a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31520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46304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BIC = −2·ℓ + p·ln(n)  (penalises parameters)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AIC = −2·ℓ + 2p  (lighter penalty)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Lower BIC/AIC = better model-data fit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BIC is more conservative than AIC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Both confirm minimum near K = 50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Provides statistical basis for K choice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Unlike elbow, these are grounded in probability theory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0F0F0"/>
                </a:solidFill>
              </a:rPr>
              <a:t>•  Use: select K at BIC minimum → K = 50 confirmed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All Algorithms – Side-by-Side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Cluster assignment visualisation for all four approaches</a:t>
            </a:r>
          </a:p>
        </p:txBody>
      </p:sp>
      <p:pic>
        <p:nvPicPr>
          <p:cNvPr id="6" name="Picture 5" descr="fig12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Full Metrics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Quantitative comparison across all evaluation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17320"/>
            <a:ext cx="233172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4475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17320"/>
            <a:ext cx="164592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44475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TD²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1463039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44752"/>
            <a:ext cx="14173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Log-Lik.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17320"/>
            <a:ext cx="137160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444752"/>
            <a:ext cx="1325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Silhouette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417320"/>
            <a:ext cx="105156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444752"/>
            <a:ext cx="10058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DB 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164592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4475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1417320"/>
            <a:ext cx="1645920" cy="4754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444752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σ(TD²)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938528"/>
            <a:ext cx="233172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204825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K-Means BF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938528"/>
            <a:ext cx="164592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0482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3.907e+10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938528"/>
            <a:ext cx="1463039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2048256"/>
            <a:ext cx="1417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1938528"/>
            <a:ext cx="137160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048256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1938528"/>
            <a:ext cx="105156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048256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1938528"/>
            <a:ext cx="164592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0482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1938528"/>
            <a:ext cx="1645920" cy="841248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0482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852928"/>
            <a:ext cx="233172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296265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K-Means++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2852928"/>
            <a:ext cx="164592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40" y="29626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3.082e+10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2852928"/>
            <a:ext cx="1463039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2962656"/>
            <a:ext cx="1417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2852928"/>
            <a:ext cx="137160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2962656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2852928"/>
            <a:ext cx="105156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2962656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2852928"/>
            <a:ext cx="164592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9626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2852928"/>
            <a:ext cx="1645920" cy="841248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29626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3767328"/>
            <a:ext cx="233172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387705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GMM/EM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0" y="3767328"/>
            <a:ext cx="164592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38770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3.158e+10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60" y="3767328"/>
            <a:ext cx="1463039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3877056"/>
            <a:ext cx="1417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-159026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3767328"/>
            <a:ext cx="137160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6440" y="3877056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78040" y="3767328"/>
            <a:ext cx="105156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23760" y="3877056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75320" y="3767328"/>
            <a:ext cx="164592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38770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320720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3767328"/>
            <a:ext cx="1645920" cy="841248"/>
          </a:xfrm>
          <a:prstGeom prst="rect">
            <a:avLst/>
          </a:prstGeom>
          <a:solidFill>
            <a:srgbClr val="0E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38770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681728"/>
            <a:ext cx="233172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4791456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GA-VQ (ref)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681728"/>
            <a:ext cx="164592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06040" y="47914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2.895e+10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4681728"/>
            <a:ext cx="1463039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4791456"/>
            <a:ext cx="1417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0" y="4681728"/>
            <a:ext cx="137160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06440" y="4791456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78040" y="4681728"/>
            <a:ext cx="105156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3760" y="4791456"/>
            <a:ext cx="10058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4681728"/>
            <a:ext cx="164592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7914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966960" y="4681728"/>
            <a:ext cx="1645920" cy="841248"/>
          </a:xfrm>
          <a:prstGeom prst="rect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12680" y="4791456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0F0"/>
                </a:solidFill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2880" y="630936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C0C0C0"/>
                </a:solidFill>
              </a:rPr>
              <a:t>↑ higher is better  |  ↓ lower is better  |  TD² = Total Distortion Squared  |  DB = Davies-Bouldin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Quality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Interpreting the metrics for the A3 dataset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17320"/>
            <a:ext cx="5760720" cy="2377440"/>
          </a:xfrm>
          <a:prstGeom prst="rect">
            <a:avLst/>
          </a:prstGeom>
          <a:solidFill>
            <a:srgbClr val="10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17320"/>
            <a:ext cx="576072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TD² / Inertia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Primary VQ metric – matches paper criterion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GA-VQ achieves reference (lowest) TD²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25496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K-Means++ close; GMM competitive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5526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K-Means BF consistently worst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5760720" cy="2377440"/>
          </a:xfrm>
          <a:prstGeom prst="rect">
            <a:avLst/>
          </a:prstGeom>
          <a:solidFill>
            <a:srgbClr val="10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576072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Log-Likelihood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Only defined for probabilistic models (GMM)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95728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GMM maximises this directly via 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25496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Higher → data better explained by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5526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BIC/AIC control overfitting vs fit trade-off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977639"/>
            <a:ext cx="5760720" cy="2377440"/>
          </a:xfrm>
          <a:prstGeom prst="rect">
            <a:avLst/>
          </a:prstGeom>
          <a:solidFill>
            <a:srgbClr val="10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3977639"/>
            <a:ext cx="576072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02335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Silhouette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526279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Measures intra-cluster cohesion vs inter-cluster sep.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956047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Range [−1, +1] — closer to +1 is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385815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A3 has overlapping clusters → moderate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81558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All algorithms score similarly (≈ 0.5–0.7)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977639"/>
            <a:ext cx="5760720" cy="2377440"/>
          </a:xfrm>
          <a:prstGeom prst="rect">
            <a:avLst/>
          </a:prstGeom>
          <a:solidFill>
            <a:srgbClr val="10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977639"/>
            <a:ext cx="5760720" cy="457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023359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Instability 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526279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K-Means BF: highest σ → least reliable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956047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K-Means++: substantially more stable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385815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GMM: moderate instability (EM local maxima)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815583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GA-VQ: deterministic given same population init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Interpretation &amp;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0584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0C0"/>
                </a:solidFill>
              </a:rPr>
              <a:t>Which algorithm is most suitable – and which is most unstable?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371600"/>
            <a:ext cx="3840480" cy="5303520"/>
          </a:xfrm>
          <a:prstGeom prst="rect">
            <a:avLst/>
          </a:prstGeom>
          <a:solidFill>
            <a:srgbClr val="0E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371600"/>
            <a:ext cx="3840480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0817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Most Suitable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659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K-Means++ is the most practical choice: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7802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Near-optimal TD² vs GA-VQ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900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Much lower instability than BF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5021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Fast convergence, 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1421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52628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GMM is best when: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03834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Soft / probabilistic assignment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55040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Clusters have elliptical shapes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6247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BIC/AIC model selection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371600"/>
            <a:ext cx="3840480" cy="5303520"/>
          </a:xfrm>
          <a:prstGeom prst="rect">
            <a:avLst/>
          </a:prstGeom>
          <a:solidFill>
            <a:srgbClr val="0E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371600"/>
            <a:ext cx="384048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140817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Most Unstable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19659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K-Means Brute-Force is most unstable: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247802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Random init → many local minima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29900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High σ(TD²) across seeds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35021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Requires many restarts to be reliable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401421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452628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GA-VQ avoids instability via evolution: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503834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Population escapes local minima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555040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Best TD² result on this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606247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  → Computationally more expensive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9" y="1371600"/>
            <a:ext cx="3840480" cy="5303520"/>
          </a:xfrm>
          <a:prstGeom prst="rect">
            <a:avLst/>
          </a:prstGeom>
          <a:solidFill>
            <a:srgbClr val="0E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59" y="1371600"/>
            <a:ext cx="384048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140817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19659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Soft (GMM) ≠ always better than hard (K-Means)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47802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Initialisation matters more than restarts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990088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K=50 confirmed by elbow + BIC/AIC +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35021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TD² and log-likelihood measure different things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4014216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Silhouette confirms cluster structure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452628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GA-VQ sets the benchmark for VQ problems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5038344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0F0"/>
                </a:solidFill>
              </a:rPr>
              <a:t>• Use K-Means++ as default; GMM for probability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